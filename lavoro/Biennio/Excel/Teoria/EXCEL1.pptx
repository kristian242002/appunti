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heddar" charset="1" panose="00000000000000000000"/>
      <p:regular r:id="rId13"/>
    </p:embeddedFont>
    <p:embeddedFont>
      <p:font typeface="Roboto Bold" charset="1" panose="02000000000000000000"/>
      <p:regular r:id="rId14"/>
    </p:embeddedFont>
    <p:embeddedFont>
      <p:font typeface="Open Sans" charset="1" panose="020B0606030504020204"/>
      <p:regular r:id="rId15"/>
    </p:embeddedFont>
    <p:embeddedFont>
      <p:font typeface="Open Sans Bold" charset="1" panose="020B0806030504020204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7" r="0" b="-606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8949" y="1028700"/>
            <a:ext cx="14350102" cy="7964307"/>
          </a:xfrm>
          <a:custGeom>
            <a:avLst/>
            <a:gdLst/>
            <a:ahLst/>
            <a:cxnLst/>
            <a:rect r="r" b="b" t="t" l="l"/>
            <a:pathLst>
              <a:path h="7964307" w="14350102">
                <a:moveTo>
                  <a:pt x="0" y="0"/>
                </a:moveTo>
                <a:lnTo>
                  <a:pt x="14350102" y="0"/>
                </a:lnTo>
                <a:lnTo>
                  <a:pt x="14350102" y="7964307"/>
                </a:lnTo>
                <a:lnTo>
                  <a:pt x="0" y="7964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493" y="3464949"/>
            <a:ext cx="3857812" cy="8001730"/>
          </a:xfrm>
          <a:custGeom>
            <a:avLst/>
            <a:gdLst/>
            <a:ahLst/>
            <a:cxnLst/>
            <a:rect r="r" b="b" t="t" l="l"/>
            <a:pathLst>
              <a:path h="8001730" w="3857812">
                <a:moveTo>
                  <a:pt x="0" y="0"/>
                </a:moveTo>
                <a:lnTo>
                  <a:pt x="3857813" y="0"/>
                </a:lnTo>
                <a:lnTo>
                  <a:pt x="3857813" y="8001730"/>
                </a:lnTo>
                <a:lnTo>
                  <a:pt x="0" y="8001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20694" y="5815348"/>
            <a:ext cx="3857812" cy="8001730"/>
          </a:xfrm>
          <a:custGeom>
            <a:avLst/>
            <a:gdLst/>
            <a:ahLst/>
            <a:cxnLst/>
            <a:rect r="r" b="b" t="t" l="l"/>
            <a:pathLst>
              <a:path h="8001730" w="3857812">
                <a:moveTo>
                  <a:pt x="3857813" y="0"/>
                </a:moveTo>
                <a:lnTo>
                  <a:pt x="0" y="0"/>
                </a:lnTo>
                <a:lnTo>
                  <a:pt x="0" y="8001731"/>
                </a:lnTo>
                <a:lnTo>
                  <a:pt x="3857813" y="8001731"/>
                </a:lnTo>
                <a:lnTo>
                  <a:pt x="385781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493" y="1028700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25233" y="3227317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89572" y="3760224"/>
            <a:ext cx="12108857" cy="231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5"/>
              </a:lnSpc>
            </a:pPr>
            <a:r>
              <a:rPr lang="en-US" sz="17128" spc="-599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EXCEL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5950" y="1223681"/>
            <a:ext cx="4479283" cy="52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7"/>
              </a:lnSpc>
            </a:pPr>
            <a:r>
              <a:rPr lang="en-US" b="true" sz="30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PROF. XHANI KRISTIAN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8791" y="3131458"/>
            <a:ext cx="8914654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COS’È EXCEL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2143" y="4284921"/>
            <a:ext cx="9747949" cy="166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Excel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è un programma/software per fogli di calcolo che serve a </a:t>
            </a:r>
            <a:r>
              <a:rPr lang="en-US" b="true" sz="318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organizzare 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dati ed </a:t>
            </a:r>
            <a:r>
              <a:rPr lang="en-US" b="true" sz="318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eseguire calcoli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modo automatico.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8791" y="3131458"/>
            <a:ext cx="8914654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CELLE,RIGHE E COLONNE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2143" y="4284921"/>
            <a:ext cx="9747949" cy="222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foglio di calcolo è  organizzato in righe e c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lonne.</a:t>
            </a:r>
          </a:p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righe sono indicate con i numeri (1, 2, 3, . . . ).</a:t>
            </a:r>
          </a:p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Le colonne sono indicate con le lettere (A, B, C, . .).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8791" y="3131458"/>
            <a:ext cx="8914654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INSERIMENTO DATI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2143" y="4729749"/>
            <a:ext cx="9747949" cy="166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Numer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 (es. 10, 3.5, 100)</a:t>
            </a:r>
          </a:p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Testo (es. nome, materia, descrizione)</a:t>
            </a:r>
          </a:p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Date (es. 15/09/2025)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8791" y="3131458"/>
            <a:ext cx="8914654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LE FORMULE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2143" y="4262157"/>
            <a:ext cx="9747949" cy="27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formula è</a:t>
            </a: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un’istruzione che dice a Excel cosa calcolare.</a:t>
            </a:r>
          </a:p>
          <a:p>
            <a:pPr algn="ctr">
              <a:lnSpc>
                <a:spcPts val="4454"/>
              </a:lnSpc>
            </a:pPr>
            <a:r>
              <a:rPr lang="en-US" sz="318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Regola fondamentale: ogni formula inizia con il </a:t>
            </a:r>
            <a:r>
              <a:rPr lang="en-US" b="true" sz="318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simbolo</a:t>
            </a:r>
          </a:p>
          <a:p>
            <a:pPr algn="ctr">
              <a:lnSpc>
                <a:spcPts val="4454"/>
              </a:lnSpc>
            </a:pPr>
            <a:r>
              <a:rPr lang="en-US" b="true" sz="318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6809" y="2391980"/>
            <a:ext cx="987176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 OPERATORI MATEMATICI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6809" y="3593541"/>
            <a:ext cx="9924114" cy="381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b="true" sz="268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Excel</a:t>
            </a: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utilizza gli stessi operatori matematici studiati in matematica.</a:t>
            </a:r>
          </a:p>
          <a:p>
            <a:pPr algn="ctr">
              <a:lnSpc>
                <a:spcPts val="3763"/>
              </a:lnSpc>
            </a:pP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• +</a:t>
            </a: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somma</a:t>
            </a:r>
          </a:p>
          <a:p>
            <a:pPr algn="ctr">
              <a:lnSpc>
                <a:spcPts val="3763"/>
              </a:lnSpc>
            </a:pP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•</a:t>
            </a: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- sottrazione</a:t>
            </a:r>
          </a:p>
          <a:p>
            <a:pPr algn="ctr">
              <a:lnSpc>
                <a:spcPts val="3763"/>
              </a:lnSpc>
            </a:pP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• * moltiplicazione</a:t>
            </a:r>
          </a:p>
          <a:p>
            <a:pPr algn="ctr">
              <a:lnSpc>
                <a:spcPts val="3763"/>
              </a:lnSpc>
            </a:pP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• / divisione</a:t>
            </a:r>
          </a:p>
          <a:p>
            <a:pPr algn="ctr">
              <a:lnSpc>
                <a:spcPts val="3763"/>
              </a:lnSpc>
              <a:spcBef>
                <a:spcPct val="0"/>
              </a:spcBef>
            </a:pP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Esempi</a:t>
            </a: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o:</a:t>
            </a:r>
          </a:p>
          <a:p>
            <a:pPr algn="ctr">
              <a:lnSpc>
                <a:spcPts val="3763"/>
              </a:lnSpc>
              <a:spcBef>
                <a:spcPct val="0"/>
              </a:spcBef>
            </a:pPr>
            <a:r>
              <a:rPr lang="en-US" b="true" sz="2688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=B2*C2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9413" y="2456450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PERCH´E USARE EXCEL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6758" y="3983051"/>
            <a:ext cx="10342673" cy="26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7"/>
              </a:lnSpc>
              <a:spcBef>
                <a:spcPct val="0"/>
              </a:spcBef>
            </a:pPr>
            <a:r>
              <a:rPr lang="en-US" sz="29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</a:t>
            </a:r>
            <a:r>
              <a:rPr lang="en-US" sz="297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 è utile perchè:</a:t>
            </a:r>
          </a:p>
          <a:p>
            <a:pPr algn="just">
              <a:lnSpc>
                <a:spcPts val="4167"/>
              </a:lnSpc>
              <a:spcBef>
                <a:spcPct val="0"/>
              </a:spcBef>
            </a:pPr>
            <a:r>
              <a:rPr lang="en-US" sz="297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riduce gli errori nei calcoli;</a:t>
            </a:r>
          </a:p>
          <a:p>
            <a:pPr algn="just">
              <a:lnSpc>
                <a:spcPts val="4167"/>
              </a:lnSpc>
              <a:spcBef>
                <a:spcPct val="0"/>
              </a:spcBef>
            </a:pPr>
            <a:r>
              <a:rPr lang="en-US" sz="297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velocizza il lavoro;</a:t>
            </a:r>
          </a:p>
          <a:p>
            <a:pPr algn="just">
              <a:lnSpc>
                <a:spcPts val="4167"/>
              </a:lnSpc>
              <a:spcBef>
                <a:spcPct val="0"/>
              </a:spcBef>
            </a:pPr>
            <a:r>
              <a:rPr lang="en-US" sz="297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permette di aggiornare i risultati in tempo reale;</a:t>
            </a:r>
          </a:p>
          <a:p>
            <a:pPr algn="just" marL="0" indent="0" lvl="1">
              <a:lnSpc>
                <a:spcPts val="4167"/>
              </a:lnSpc>
              <a:spcBef>
                <a:spcPct val="0"/>
              </a:spcBef>
            </a:pPr>
            <a:r>
              <a:rPr lang="en-US" sz="297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`e usato nella scuola, nel lavoro e nella vita quotidiana.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DAG9jOaBWIM</dc:identifier>
  <dcterms:modified xsi:type="dcterms:W3CDTF">2011-08-01T06:04:30Z</dcterms:modified>
  <cp:revision>1</cp:revision>
  <dc:title>Copia di Copia di Copia di Lezione1</dc:title>
</cp:coreProperties>
</file>